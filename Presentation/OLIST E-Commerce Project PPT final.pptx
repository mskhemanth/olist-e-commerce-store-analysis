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6" r:id="rId9"/>
    <p:sldId id="269" r:id="rId10"/>
    <p:sldId id="267" r:id="rId11"/>
    <p:sldId id="268" r:id="rId12"/>
    <p:sldId id="264" r:id="rId13"/>
    <p:sldId id="265" r:id="rId14"/>
    <p:sldId id="271" r:id="rId15"/>
  </p:sldIdLst>
  <p:sldSz cx="12192000" cy="6858000"/>
  <p:notesSz cx="6858000" cy="12192000"/>
  <p:embeddedFontLst>
    <p:embeddedFont>
      <p:font typeface="Funnel Sans Bold" panose="020B0604020202020204" charset="0"/>
      <p:regular r:id="rId17"/>
    </p:embeddedFont>
    <p:embeddedFont>
      <p:font typeface="Funnel Sans Light" panose="020B0604020202020204" charset="0"/>
      <p:regular r:id="rId18"/>
    </p:embeddedFont>
    <p:embeddedFont>
      <p:font typeface="Funnel Sans SemiBold" panose="020B0604020202020204" charset="0"/>
      <p:regular r:id="rId19"/>
    </p:embeddedFont>
    <p:embeddedFont>
      <p:font typeface="Hedvig Letters Serif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617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89" y="490149"/>
            <a:ext cx="2301817" cy="270173"/>
          </a:xfrm>
          <a:prstGeom prst="roundRect">
            <a:avLst>
              <a:gd name="adj" fmla="val 4231"/>
            </a:avLst>
          </a:prstGeom>
          <a:noFill/>
          <a:ln w="6350">
            <a:solidFill>
              <a:srgbClr val="F2C5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3846" y="563364"/>
            <a:ext cx="2698087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2C58E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E-COMMERCE · DATA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189" y="939006"/>
            <a:ext cx="11277318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189" y="1897063"/>
            <a:ext cx="11277318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OLIST E-COMMERCE</a:t>
            </a:r>
            <a:endParaRPr lang="en-US" sz="7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74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STORE  ANALYSIS</a:t>
            </a:r>
            <a:endParaRPr lang="en-US" sz="7400" dirty="0"/>
          </a:p>
        </p:txBody>
      </p:sp>
      <p:sp>
        <p:nvSpPr>
          <p:cNvPr id="6" name="Text 4"/>
          <p:cNvSpPr/>
          <p:nvPr/>
        </p:nvSpPr>
        <p:spPr>
          <a:xfrm>
            <a:off x="457189" y="4039791"/>
            <a:ext cx="11277318" cy="1064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Business Insights &amp; Performance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189" y="5262563"/>
            <a:ext cx="3228894" cy="270173"/>
          </a:xfrm>
          <a:prstGeom prst="roundRect">
            <a:avLst>
              <a:gd name="adj" fmla="val 4231"/>
            </a:avLst>
          </a:prstGeom>
          <a:solidFill>
            <a:srgbClr val="FAE8D1"/>
          </a:solidFill>
          <a:ln/>
        </p:spPr>
      </p:sp>
      <p:sp>
        <p:nvSpPr>
          <p:cNvPr id="8" name="Text 6"/>
          <p:cNvSpPr/>
          <p:nvPr/>
        </p:nvSpPr>
        <p:spPr>
          <a:xfrm>
            <a:off x="563846" y="5315843"/>
            <a:ext cx="3625164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MODULES :  EXCEL · SQL · POWER BI · TABLEAU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189" y="5691485"/>
            <a:ext cx="11277318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89" y="2716014"/>
            <a:ext cx="3779445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AGENDA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57189" y="3662561"/>
            <a:ext cx="1247148" cy="38100"/>
          </a:xfrm>
          <a:prstGeom prst="roundRect">
            <a:avLst>
              <a:gd name="adj" fmla="val 49999"/>
            </a:avLst>
          </a:prstGeom>
          <a:solidFill>
            <a:srgbClr val="F2C58E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903861"/>
            <a:ext cx="377944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From business context to evidence-backed recommendations.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08100" y="2864644"/>
            <a:ext cx="6126406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Business &amp; Data Overview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Sales &amp; Customer Analysis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Product, Seller &amp; Operational Analysis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Insights &amp;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828627"/>
            <a:ext cx="3967361" cy="10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100" spc="4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BUSINESS &amp; DATA OVERVIEW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189" y="2971800"/>
            <a:ext cx="3967361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35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OLIST E-COMMERCE ANALYSIS OVERVIEW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457189" y="3739654"/>
            <a:ext cx="3967361" cy="289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Five measures establish the scale of the marketplace before deeper analysis.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881639" y="566738"/>
            <a:ext cx="3274038" cy="1704975"/>
          </a:xfrm>
          <a:prstGeom prst="roundRect">
            <a:avLst>
              <a:gd name="adj" fmla="val 670"/>
            </a:avLst>
          </a:prstGeom>
          <a:solidFill>
            <a:srgbClr val="F7D9B0"/>
          </a:solidFill>
          <a:ln/>
        </p:spPr>
      </p:sp>
      <p:sp>
        <p:nvSpPr>
          <p:cNvPr id="6" name="Text 4"/>
          <p:cNvSpPr/>
          <p:nvPr/>
        </p:nvSpPr>
        <p:spPr>
          <a:xfrm>
            <a:off x="5110233" y="795337"/>
            <a:ext cx="3045443" cy="10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100" spc="43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ORDERS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10233" y="1079180"/>
            <a:ext cx="2816849" cy="87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3600" dirty="0"/>
              <a:t>99,441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5110233" y="1898253"/>
            <a:ext cx="3045443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orders processed through the marketplace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60469" y="566738"/>
            <a:ext cx="3274038" cy="1704975"/>
          </a:xfrm>
          <a:prstGeom prst="roundRect">
            <a:avLst>
              <a:gd name="adj" fmla="val 670"/>
            </a:avLst>
          </a:prstGeom>
          <a:solidFill>
            <a:srgbClr val="FBF5EC"/>
          </a:solidFill>
          <a:ln/>
        </p:spPr>
      </p:sp>
      <p:sp>
        <p:nvSpPr>
          <p:cNvPr id="10" name="Text 8"/>
          <p:cNvSpPr/>
          <p:nvPr/>
        </p:nvSpPr>
        <p:spPr>
          <a:xfrm>
            <a:off x="8689063" y="795337"/>
            <a:ext cx="3045443" cy="10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100" spc="4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CUSTOMERS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689063" y="1110446"/>
            <a:ext cx="2816849" cy="875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3600" dirty="0"/>
              <a:t>96,096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8689063" y="1898253"/>
            <a:ext cx="3045443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customers served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81639" y="2570521"/>
            <a:ext cx="3274038" cy="1705173"/>
          </a:xfrm>
          <a:prstGeom prst="roundRect">
            <a:avLst>
              <a:gd name="adj" fmla="val 670"/>
            </a:avLst>
          </a:prstGeom>
          <a:solidFill>
            <a:srgbClr val="FBF5E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110233" y="2805013"/>
            <a:ext cx="3045443" cy="10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100" spc="4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SELLER NETWORK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71154" y="3102697"/>
            <a:ext cx="2816849" cy="65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3600" dirty="0"/>
              <a:t>3,095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5110233" y="3907929"/>
            <a:ext cx="3045443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sellers across multiple 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60469" y="2576413"/>
            <a:ext cx="3274038" cy="1705173"/>
          </a:xfrm>
          <a:prstGeom prst="roundRect">
            <a:avLst>
              <a:gd name="adj" fmla="val 670"/>
            </a:avLst>
          </a:prstGeom>
          <a:solidFill>
            <a:srgbClr val="3A1F2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063" y="2805013"/>
            <a:ext cx="3045443" cy="108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100" spc="43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TOTAL REVENUE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689063" y="3065411"/>
            <a:ext cx="2816849" cy="65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3600" dirty="0"/>
              <a:t>R$16.01M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8689063" y="3907929"/>
            <a:ext cx="3045443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in total payment value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81639" y="4586288"/>
            <a:ext cx="6852868" cy="1704975"/>
          </a:xfrm>
          <a:prstGeom prst="roundRect">
            <a:avLst>
              <a:gd name="adj" fmla="val 670"/>
            </a:avLst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283" y="4970880"/>
            <a:ext cx="6605224" cy="25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100" spc="4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ORDER ITEMS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129283" y="5281474"/>
            <a:ext cx="6357580" cy="666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50" dirty="0">
                <a:solidFill>
                  <a:srgbClr val="3A1F24"/>
                </a:solidFill>
                <a:latin typeface="Hedvig Letters Serif" pitchFamily="34" charset="0"/>
              </a:rPr>
              <a:t>112,650</a:t>
            </a:r>
            <a:endParaRPr lang="en-US" sz="3450" dirty="0"/>
          </a:p>
        </p:txBody>
      </p:sp>
      <p:sp>
        <p:nvSpPr>
          <p:cNvPr id="24" name="Text 22"/>
          <p:cNvSpPr/>
          <p:nvPr/>
        </p:nvSpPr>
        <p:spPr>
          <a:xfrm>
            <a:off x="5129283" y="5838851"/>
            <a:ext cx="6605224" cy="202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5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items processed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099145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SALES PERFORMANCE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358801"/>
            <a:ext cx="502907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SALES &amp; ORDER PERFORMANCE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2542282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Show orders and revenue trends over time, plus average order value where available.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3243163"/>
            <a:ext cx="1659591" cy="38100"/>
          </a:xfrm>
          <a:prstGeom prst="roundRect">
            <a:avLst>
              <a:gd name="adj" fmla="val 49999"/>
            </a:avLst>
          </a:prstGeom>
          <a:solidFill>
            <a:srgbClr val="F2C58E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3627338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PEAK SALES PERIOD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189" y="3886994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000" dirty="0"/>
              <a:t>November 2017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4293394"/>
            <a:ext cx="5667234" cy="724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/>
              <a:t>Recorded the strongest sales performance, driven by the </a:t>
            </a:r>
            <a:r>
              <a:rPr lang="en-IN" sz="1400" b="1" dirty="0"/>
              <a:t>Black Friday period</a:t>
            </a:r>
            <a:r>
              <a:rPr lang="en-IN" sz="1400" dirty="0"/>
              <a:t>.</a:t>
            </a:r>
          </a:p>
          <a:p>
            <a:r>
              <a:rPr lang="en-IN" sz="1400" dirty="0"/>
              <a:t> November 2017 generated approximately </a:t>
            </a:r>
            <a:r>
              <a:rPr lang="en-IN" sz="1400" b="1" dirty="0"/>
              <a:t>R$1.18M revenue</a:t>
            </a:r>
            <a:r>
              <a:rPr lang="en-IN" sz="1400" dirty="0"/>
              <a:t> and </a:t>
            </a:r>
          </a:p>
          <a:p>
            <a:r>
              <a:rPr lang="en-IN" sz="1400" dirty="0"/>
              <a:t>had around </a:t>
            </a:r>
            <a:r>
              <a:rPr lang="en-IN" sz="1400" b="1" dirty="0"/>
              <a:t>7,544 orders</a:t>
            </a:r>
            <a:r>
              <a:rPr lang="en-IN" sz="1400" dirty="0"/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189" y="5062935"/>
            <a:ext cx="5486263" cy="187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ORDER TREND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189" y="5250259"/>
            <a:ext cx="5029074" cy="372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000" dirty="0"/>
              <a:t>Increasing → Peak → Fluctuating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189" y="5667375"/>
            <a:ext cx="5486263" cy="569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dirty="0"/>
              <a:t>Orders increased strongly throughout </a:t>
            </a:r>
            <a:r>
              <a:rPr lang="en-IN" sz="1400" b="1" dirty="0"/>
              <a:t>2017</a:t>
            </a:r>
            <a:r>
              <a:rPr lang="en-IN" sz="1400" dirty="0"/>
              <a:t>, reaching their peak in </a:t>
            </a:r>
          </a:p>
          <a:p>
            <a:r>
              <a:rPr lang="en-IN" sz="1400" b="1" dirty="0"/>
              <a:t>November 2017</a:t>
            </a:r>
            <a:r>
              <a:rPr lang="en-IN" sz="1400" dirty="0"/>
              <a:t>, followed by fluctuations during 2018.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EEE8DF"/>
          </a:solidFill>
          <a:ln/>
        </p:spPr>
      </p:sp>
      <p:sp>
        <p:nvSpPr>
          <p:cNvPr id="13" name="Text 11"/>
          <p:cNvSpPr/>
          <p:nvPr/>
        </p:nvSpPr>
        <p:spPr>
          <a:xfrm>
            <a:off x="6527637" y="1190526"/>
            <a:ext cx="56640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REVENUE LEADER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7637" y="1450181"/>
            <a:ext cx="538466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000" dirty="0"/>
              <a:t>November 2017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27637" y="1856581"/>
            <a:ext cx="566405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Contributed the highest revenue approximately </a:t>
            </a:r>
            <a:r>
              <a:rPr lang="en-IN" sz="1400" dirty="0"/>
              <a:t>R$1.18M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27637" y="2264172"/>
            <a:ext cx="56640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ANALYTIC 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27637" y="3795613"/>
            <a:ext cx="5384665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28332" y="326221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A8532D"/>
          </a:solidFill>
          <a:ln/>
        </p:spPr>
      </p:sp>
      <p:sp>
        <p:nvSpPr>
          <p:cNvPr id="19" name="Shape 17"/>
          <p:cNvSpPr/>
          <p:nvPr/>
        </p:nvSpPr>
        <p:spPr>
          <a:xfrm>
            <a:off x="7337837" y="3595588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4510" y="362892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1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705432" y="2609552"/>
            <a:ext cx="166484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Orders - </a:t>
            </a:r>
            <a:r>
              <a:rPr lang="en-IN" sz="1600" dirty="0"/>
              <a:t>7,544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649674" y="379561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3A1F24"/>
          </a:solidFill>
          <a:ln/>
        </p:spPr>
      </p:sp>
      <p:sp>
        <p:nvSpPr>
          <p:cNvPr id="23" name="Shape 21"/>
          <p:cNvSpPr/>
          <p:nvPr/>
        </p:nvSpPr>
        <p:spPr>
          <a:xfrm>
            <a:off x="8459179" y="3595588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3A1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25852" y="362892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826775" y="4506813"/>
            <a:ext cx="16649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Revenue - </a:t>
            </a:r>
            <a:r>
              <a:rPr lang="en-IN" sz="1600" dirty="0"/>
              <a:t>R$1.18M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771016" y="326221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A8532D"/>
          </a:solidFill>
          <a:ln/>
        </p:spPr>
      </p:sp>
      <p:sp>
        <p:nvSpPr>
          <p:cNvPr id="27" name="Shape 25"/>
          <p:cNvSpPr/>
          <p:nvPr/>
        </p:nvSpPr>
        <p:spPr>
          <a:xfrm>
            <a:off x="9580521" y="3595588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7195" y="362892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3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948117" y="2609552"/>
            <a:ext cx="1664948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algn="ctr"/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Average order value  </a:t>
            </a:r>
            <a:r>
              <a:rPr lang="en-IN" sz="1600" dirty="0"/>
              <a:t>~R$157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892458" y="379561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3A1F24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01963" y="3595588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3A1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68636" y="362892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069558" y="4506813"/>
            <a:ext cx="166494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1600" dirty="0"/>
              <a:t>November 2017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527637" y="4947444"/>
            <a:ext cx="5384566" cy="19050"/>
          </a:xfrm>
          <a:prstGeom prst="roundRect">
            <a:avLst>
              <a:gd name="adj" fmla="val 49999"/>
            </a:avLst>
          </a:prstGeom>
          <a:solidFill>
            <a:srgbClr val="F2C58E"/>
          </a:solidFill>
          <a:ln/>
        </p:spPr>
      </p:sp>
      <p:sp>
        <p:nvSpPr>
          <p:cNvPr id="35" name="Text 33"/>
          <p:cNvSpPr/>
          <p:nvPr/>
        </p:nvSpPr>
        <p:spPr>
          <a:xfrm>
            <a:off x="6527637" y="5302558"/>
            <a:ext cx="538466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Recommendation: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</a:t>
            </a:r>
            <a:r>
              <a:rPr lang="en-IN" sz="1400" dirty="0"/>
              <a:t>Align marketing, inventory, and promotions with high-performing periods, particularly seasonal events such as </a:t>
            </a:r>
            <a:r>
              <a:rPr lang="en-IN" sz="1400" b="1" dirty="0"/>
              <a:t>Black Friday</a:t>
            </a:r>
            <a:r>
              <a:rPr lang="en-IN" sz="1400" dirty="0"/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81831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CUSTOMER &amp; GEOGRAPHIC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41487"/>
            <a:ext cx="11277318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CUSTOMER &amp; GEOGRAPHIC ANALYSIS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1789807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Compare customers, orders, and revenue by Brazilian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2197398"/>
            <a:ext cx="5486263" cy="1712516"/>
          </a:xfrm>
          <a:prstGeom prst="rect">
            <a:avLst/>
          </a:prstGeom>
          <a:solidFill>
            <a:srgbClr val="3A1F2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451398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1182" y="3000673"/>
            <a:ext cx="49782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Customer concentration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11182" y="3384848"/>
            <a:ext cx="5134727" cy="468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b="1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SAO PAULO  </a:t>
            </a:r>
            <a:r>
              <a:rPr lang="en-IN" sz="1400" b="1" dirty="0">
                <a:solidFill>
                  <a:schemeClr val="bg1"/>
                </a:solidFill>
              </a:rPr>
              <a:t>41,746 customers</a:t>
            </a:r>
            <a:r>
              <a:rPr lang="en-IN" sz="1400" dirty="0">
                <a:solidFill>
                  <a:schemeClr val="bg1"/>
                </a:solidFill>
              </a:rPr>
              <a:t> - the highest customer concentration</a:t>
            </a:r>
          </a:p>
          <a:p>
            <a:r>
              <a:rPr lang="en-IN" sz="1400" dirty="0">
                <a:solidFill>
                  <a:schemeClr val="bg1"/>
                </a:solidFill>
              </a:rPr>
              <a:t> representing about </a:t>
            </a:r>
            <a:r>
              <a:rPr lang="en-IN" sz="1400" b="1" dirty="0">
                <a:solidFill>
                  <a:schemeClr val="bg1"/>
                </a:solidFill>
              </a:rPr>
              <a:t>42%</a:t>
            </a:r>
            <a:r>
              <a:rPr lang="en-IN" sz="1400" dirty="0">
                <a:solidFill>
                  <a:schemeClr val="bg1"/>
                </a:solidFill>
              </a:rPr>
              <a:t> of the customer base.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248244" y="2197398"/>
            <a:ext cx="5486263" cy="1712516"/>
          </a:xfrm>
          <a:prstGeom prst="rect">
            <a:avLst/>
          </a:prstGeom>
          <a:solidFill>
            <a:srgbClr val="3A1F2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37" y="2451398"/>
            <a:ext cx="444489" cy="444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02237" y="3000673"/>
            <a:ext cx="49782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Revenue leader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502238" y="3407073"/>
            <a:ext cx="5119240" cy="445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SAO PAULO      </a:t>
            </a:r>
            <a:r>
              <a:rPr lang="en-IN" sz="1400" dirty="0">
                <a:solidFill>
                  <a:schemeClr val="bg1"/>
                </a:solidFill>
              </a:rPr>
              <a:t>Generated approximately </a:t>
            </a:r>
            <a:r>
              <a:rPr lang="en-IN" sz="1400" b="1" dirty="0">
                <a:solidFill>
                  <a:schemeClr val="bg1"/>
                </a:solidFill>
              </a:rPr>
              <a:t>R$5.77M in revenue</a:t>
            </a:r>
            <a:r>
              <a:rPr lang="en-IN" sz="1400" dirty="0">
                <a:solidFill>
                  <a:schemeClr val="bg1"/>
                </a:solidFill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IN" sz="1400" dirty="0">
                <a:solidFill>
                  <a:schemeClr val="bg1"/>
                </a:solidFill>
              </a:rPr>
              <a:t>the highest among all states. </a:t>
            </a:r>
          </a:p>
          <a:p>
            <a:pPr>
              <a:lnSpc>
                <a:spcPct val="117000"/>
              </a:lnSpc>
            </a:pP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189" y="4214713"/>
            <a:ext cx="5486263" cy="1961356"/>
          </a:xfrm>
          <a:prstGeom prst="rect">
            <a:avLst/>
          </a:prstGeom>
          <a:solidFill>
            <a:srgbClr val="3A1F2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4468713"/>
            <a:ext cx="444489" cy="444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1182" y="5017988"/>
            <a:ext cx="49782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Geographic opportunity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711183" y="5402164"/>
            <a:ext cx="5134726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1400" b="1" dirty="0">
                <a:solidFill>
                  <a:schemeClr val="bg1"/>
                </a:solidFill>
              </a:rPr>
              <a:t>Rio de Janeiro (RJ) &amp; Minas Gerais (MG) </a:t>
            </a:r>
          </a:p>
          <a:p>
            <a:r>
              <a:rPr lang="en-IN" sz="1400" dirty="0">
                <a:solidFill>
                  <a:schemeClr val="bg1"/>
                </a:solidFill>
              </a:rPr>
              <a:t>Strong secondary markets with </a:t>
            </a:r>
            <a:r>
              <a:rPr lang="en-IN" sz="1400" b="1" dirty="0">
                <a:solidFill>
                  <a:schemeClr val="bg1"/>
                </a:solidFill>
              </a:rPr>
              <a:t>12,852 customers in RJ</a:t>
            </a:r>
            <a:r>
              <a:rPr lang="en-IN" sz="1400" dirty="0">
                <a:solidFill>
                  <a:schemeClr val="bg1"/>
                </a:solidFill>
              </a:rPr>
              <a:t> and </a:t>
            </a:r>
            <a:r>
              <a:rPr lang="en-IN" sz="1400" b="1" dirty="0">
                <a:solidFill>
                  <a:schemeClr val="bg1"/>
                </a:solidFill>
              </a:rPr>
              <a:t>11,635 </a:t>
            </a:r>
          </a:p>
          <a:p>
            <a:r>
              <a:rPr lang="en-IN" sz="1400" b="1" dirty="0">
                <a:solidFill>
                  <a:schemeClr val="bg1"/>
                </a:solidFill>
              </a:rPr>
              <a:t>in MG</a:t>
            </a:r>
            <a:r>
              <a:rPr lang="en-IN" sz="1400" dirty="0">
                <a:solidFill>
                  <a:schemeClr val="bg1"/>
                </a:solidFill>
              </a:rPr>
              <a:t>, making them good targets for regional growth.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248244" y="4214713"/>
            <a:ext cx="5486263" cy="1961356"/>
          </a:xfrm>
          <a:prstGeom prst="rect">
            <a:avLst/>
          </a:prstGeom>
          <a:solidFill>
            <a:srgbClr val="3A1F2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237" y="4468713"/>
            <a:ext cx="444489" cy="4445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02237" y="5017988"/>
            <a:ext cx="497827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Operational use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2237" y="5424388"/>
            <a:ext cx="49782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Use regional demand patterns for marketing, delivery, and expansion.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955701"/>
            <a:ext cx="423663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OPERATIONS &amp; EXPERIENCE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215356"/>
            <a:ext cx="3779445" cy="2011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DELIVERY, PAYMENT &amp; CUSTOMER EXPERIENCE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4404519"/>
            <a:ext cx="377944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Connect operational performance with the customer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50912" y="0"/>
            <a:ext cx="3367995" cy="1246882"/>
          </a:xfrm>
          <a:prstGeom prst="rect">
            <a:avLst/>
          </a:prstGeom>
          <a:solidFill>
            <a:srgbClr val="FBF5EC"/>
          </a:solidFill>
          <a:ln/>
        </p:spPr>
      </p:sp>
      <p:sp>
        <p:nvSpPr>
          <p:cNvPr id="6" name="Text 4"/>
          <p:cNvSpPr/>
          <p:nvPr/>
        </p:nvSpPr>
        <p:spPr>
          <a:xfrm>
            <a:off x="5379506" y="228600"/>
            <a:ext cx="313940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DELIVERY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79506" y="488255"/>
            <a:ext cx="291080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11.37 DAYS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79506" y="894655"/>
            <a:ext cx="313940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Average delivery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23700" y="0"/>
            <a:ext cx="3367995" cy="1246882"/>
          </a:xfrm>
          <a:prstGeom prst="rect">
            <a:avLst/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71343" y="247650"/>
            <a:ext cx="31203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LATE DELIVERY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71343" y="507305"/>
            <a:ext cx="287270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8.11%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71343" y="913705"/>
            <a:ext cx="31203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Late delivery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50912" y="1551682"/>
            <a:ext cx="3367995" cy="1246981"/>
          </a:xfrm>
          <a:prstGeom prst="rect">
            <a:avLst/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8556" y="1799332"/>
            <a:ext cx="31203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PAYMENT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8556" y="2058988"/>
            <a:ext cx="287270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</a:rPr>
              <a:t>CREDIT CARD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8556" y="2465388"/>
            <a:ext cx="31203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Most used payment method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23700" y="1551682"/>
            <a:ext cx="3367995" cy="1246981"/>
          </a:xfrm>
          <a:prstGeom prst="rect">
            <a:avLst/>
          </a:prstGeom>
          <a:solidFill>
            <a:srgbClr val="F7D9B0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294" y="1780282"/>
            <a:ext cx="313940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REVIEWS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52294" y="2039938"/>
            <a:ext cx="291080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4.09/5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52294" y="2446338"/>
            <a:ext cx="313940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Average review score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50912" y="3103463"/>
            <a:ext cx="7040783" cy="1275655"/>
          </a:xfrm>
          <a:prstGeom prst="rect">
            <a:avLst/>
          </a:prstGeom>
          <a:solidFill>
            <a:srgbClr val="3A1F24"/>
          </a:solidFill>
          <a:ln/>
        </p:spPr>
      </p:sp>
      <p:sp>
        <p:nvSpPr>
          <p:cNvPr id="22" name="Text 20"/>
          <p:cNvSpPr/>
          <p:nvPr/>
        </p:nvSpPr>
        <p:spPr>
          <a:xfrm>
            <a:off x="5379506" y="3332063"/>
            <a:ext cx="681218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ANALYTICAL QUESTION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79506" y="3591719"/>
            <a:ext cx="658359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Does longer delivery time contribute to lower review scores?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150912" y="5903119"/>
            <a:ext cx="7040783" cy="954881"/>
          </a:xfrm>
          <a:prstGeom prst="rect">
            <a:avLst/>
          </a:prstGeom>
          <a:solidFill>
            <a:srgbClr val="FBF5EC"/>
          </a:solidFill>
          <a:ln/>
        </p:spPr>
      </p:sp>
      <p:sp>
        <p:nvSpPr>
          <p:cNvPr id="25" name="Text 23"/>
          <p:cNvSpPr/>
          <p:nvPr/>
        </p:nvSpPr>
        <p:spPr>
          <a:xfrm>
            <a:off x="5379506" y="6131719"/>
            <a:ext cx="658359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Recommendation: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Improve logistics and experience in weaker regions and categories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118195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END-TO-END 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1377851"/>
            <a:ext cx="11277318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DATA ANALYSIS APPROACH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2226171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Each tool transformed the Olist dataset from raw transactions into actionable business insights.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4186734"/>
            <a:ext cx="11277318" cy="19050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36375" y="3653334"/>
            <a:ext cx="19050" cy="533400"/>
          </a:xfrm>
          <a:prstGeom prst="roundRect">
            <a:avLst>
              <a:gd name="adj" fmla="val 49999"/>
            </a:avLst>
          </a:prstGeom>
          <a:solidFill>
            <a:srgbClr val="A8532D"/>
          </a:solidFill>
          <a:ln/>
        </p:spPr>
      </p:sp>
      <p:sp>
        <p:nvSpPr>
          <p:cNvPr id="7" name="Shape 5"/>
          <p:cNvSpPr/>
          <p:nvPr/>
        </p:nvSpPr>
        <p:spPr>
          <a:xfrm>
            <a:off x="2445879" y="3986709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2553" y="402004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4935" y="2633762"/>
            <a:ext cx="402193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Excel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4984" y="2977852"/>
            <a:ext cx="402193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Data cleaning, preparation, pivot tables, exploratory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6307" y="4186734"/>
            <a:ext cx="19050" cy="533400"/>
          </a:xfrm>
          <a:prstGeom prst="roundRect">
            <a:avLst>
              <a:gd name="adj" fmla="val 49999"/>
            </a:avLst>
          </a:prstGeom>
          <a:solidFill>
            <a:srgbClr val="3A1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45812" y="3986709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3A1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2485" y="402004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34817" y="4897934"/>
            <a:ext cx="402202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SQL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934817" y="5242024"/>
            <a:ext cx="40220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Data extraction, business queries, aggregations, KPI analysis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36239" y="3653334"/>
            <a:ext cx="19050" cy="533400"/>
          </a:xfrm>
          <a:prstGeom prst="roundRect">
            <a:avLst>
              <a:gd name="adj" fmla="val 49999"/>
            </a:avLst>
          </a:prstGeom>
          <a:solidFill>
            <a:srgbClr val="A8532D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5744" y="3986709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2417" y="402004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234750" y="2633762"/>
            <a:ext cx="402202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34750" y="2977852"/>
            <a:ext cx="402202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Data modeling, DAX measures, interactive KPIs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36172" y="4186734"/>
            <a:ext cx="19050" cy="533400"/>
          </a:xfrm>
          <a:prstGeom prst="roundRect">
            <a:avLst>
              <a:gd name="adj" fmla="val 49999"/>
            </a:avLst>
          </a:prstGeom>
          <a:solidFill>
            <a:srgbClr val="3A1F24"/>
          </a:solidFill>
          <a:ln/>
        </p:spPr>
      </p:sp>
      <p:sp>
        <p:nvSpPr>
          <p:cNvPr id="22" name="Shape 20"/>
          <p:cNvSpPr/>
          <p:nvPr/>
        </p:nvSpPr>
        <p:spPr>
          <a:xfrm>
            <a:off x="9345676" y="3986709"/>
            <a:ext cx="400040" cy="400050"/>
          </a:xfrm>
          <a:prstGeom prst="roundRect">
            <a:avLst>
              <a:gd name="adj" fmla="val 2857"/>
            </a:avLst>
          </a:prstGeom>
          <a:solidFill>
            <a:srgbClr val="FBF5EC"/>
          </a:solidFill>
          <a:ln w="6350">
            <a:solidFill>
              <a:srgbClr val="3A1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2350" y="4020046"/>
            <a:ext cx="266693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534682" y="4897934"/>
            <a:ext cx="402202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21160F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Tableau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34682" y="5242024"/>
            <a:ext cx="402202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Interactive visualizations, trend and geographic analysis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49B5E-CBD3-0865-3101-6D40B8563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4892" y="966158"/>
            <a:ext cx="11999342" cy="58055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954151-A3BA-6308-8B82-809DCA6D701B}"/>
              </a:ext>
            </a:extLst>
          </p:cNvPr>
          <p:cNvSpPr txBox="1"/>
          <p:nvPr/>
        </p:nvSpPr>
        <p:spPr>
          <a:xfrm>
            <a:off x="94892" y="330740"/>
            <a:ext cx="11999342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4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Excel Dash Board</a:t>
            </a:r>
          </a:p>
        </p:txBody>
      </p:sp>
    </p:spTree>
    <p:extLst>
      <p:ext uri="{BB962C8B-B14F-4D97-AF65-F5344CB8AC3E}">
        <p14:creationId xmlns:p14="http://schemas.microsoft.com/office/powerpoint/2010/main" val="265140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85D5DF5-C05A-F580-87B1-AC019292BC4D}"/>
              </a:ext>
            </a:extLst>
          </p:cNvPr>
          <p:cNvSpPr txBox="1"/>
          <p:nvPr/>
        </p:nvSpPr>
        <p:spPr>
          <a:xfrm>
            <a:off x="254775" y="593970"/>
            <a:ext cx="1174184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SQL QUERIES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4CB0D-B11F-E302-890D-345113351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75" y="1218353"/>
            <a:ext cx="3595330" cy="217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89F082-9635-0978-DD7A-1A429687E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75" y="3553626"/>
            <a:ext cx="4148215" cy="10689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30CF67-3DDE-F213-05B1-0AFADCC2A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9168" y="1218353"/>
            <a:ext cx="3797495" cy="11303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5CD6AE-033F-CF5A-8BDE-682A06352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800" y="1218353"/>
            <a:ext cx="1625684" cy="977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EB4878-14E7-9140-955E-A9160C5C9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9168" y="2593914"/>
            <a:ext cx="6026460" cy="1054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27C512-5409-9579-06F4-01DC2A74D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5606" y="3737099"/>
            <a:ext cx="2514729" cy="9017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E4084B-58BA-FD97-AA24-AA24EEEDE2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2269" y="3912874"/>
            <a:ext cx="2686188" cy="12827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521F81A-C11D-AEB0-D6B1-544D174917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6198" y="5340129"/>
            <a:ext cx="2921150" cy="7683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6A97BCD-649F-9CED-FF8B-3F88BFFE2B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182" y="5085371"/>
            <a:ext cx="5124713" cy="123831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FCA3398-C2A5-6E62-758C-A041866AE6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5606" y="5068936"/>
            <a:ext cx="2844946" cy="113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06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302B39-2A6D-11C6-D69D-726EAE91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7277" y="836579"/>
            <a:ext cx="11994204" cy="59338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FB1BF4-54F4-B6CF-39D1-73EA6CAB37DF}"/>
              </a:ext>
            </a:extLst>
          </p:cNvPr>
          <p:cNvSpPr txBox="1"/>
          <p:nvPr/>
        </p:nvSpPr>
        <p:spPr>
          <a:xfrm>
            <a:off x="97277" y="194554"/>
            <a:ext cx="11994204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4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Power BI Dash Board</a:t>
            </a:r>
          </a:p>
        </p:txBody>
      </p:sp>
    </p:spTree>
    <p:extLst>
      <p:ext uri="{BB962C8B-B14F-4D97-AF65-F5344CB8AC3E}">
        <p14:creationId xmlns:p14="http://schemas.microsoft.com/office/powerpoint/2010/main" val="309427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1DBF32-C453-60CC-E78F-0A3900887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" y="933855"/>
            <a:ext cx="12023386" cy="58365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139D4BE-410A-429F-C3EC-8ECBC9CDA729}"/>
              </a:ext>
            </a:extLst>
          </p:cNvPr>
          <p:cNvSpPr txBox="1"/>
          <p:nvPr/>
        </p:nvSpPr>
        <p:spPr>
          <a:xfrm>
            <a:off x="68677" y="246524"/>
            <a:ext cx="12023386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4">
                    <a:lumMod val="20000"/>
                    <a:lumOff val="80000"/>
                  </a:schemeClr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Tableau Dash Board</a:t>
            </a:r>
          </a:p>
        </p:txBody>
      </p:sp>
    </p:spTree>
    <p:extLst>
      <p:ext uri="{BB962C8B-B14F-4D97-AF65-F5344CB8AC3E}">
        <p14:creationId xmlns:p14="http://schemas.microsoft.com/office/powerpoint/2010/main" val="2702701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2162373"/>
            <a:ext cx="34543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INSIGHTS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422029"/>
            <a:ext cx="2997125" cy="159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SUMMARY OF KEY INSIGHTS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189" y="4197846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Five lenses connect marketplace performance to customer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68691" y="0"/>
            <a:ext cx="3759106" cy="2082800"/>
          </a:xfrm>
          <a:prstGeom prst="rect">
            <a:avLst/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8235" y="209550"/>
            <a:ext cx="475047" cy="475059"/>
          </a:xfrm>
          <a:prstGeom prst="ellipse">
            <a:avLst/>
          </a:prstGeom>
          <a:solidFill>
            <a:srgbClr val="F2C58E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7932" y="358180"/>
            <a:ext cx="805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8235" y="863402"/>
            <a:ext cx="33400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Sales performance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8235" y="1269802"/>
            <a:ext cx="33400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Strongest sales periods and revenue-generating categories identified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32589" y="0"/>
            <a:ext cx="3759106" cy="2082800"/>
          </a:xfrm>
          <a:prstGeom prst="rect">
            <a:avLst/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2134" y="209550"/>
            <a:ext cx="475047" cy="475059"/>
          </a:xfrm>
          <a:prstGeom prst="ellipse">
            <a:avLst/>
          </a:prstGeom>
          <a:solidFill>
            <a:srgbClr val="F2C58E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81830" y="358180"/>
            <a:ext cx="805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2134" y="863402"/>
            <a:ext cx="33400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Customer behavior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2134" y="1269802"/>
            <a:ext cx="33400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Major customer regions and purchasing patterns identified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68691" y="2387501"/>
            <a:ext cx="3759106" cy="2082998"/>
          </a:xfrm>
          <a:prstGeom prst="rect">
            <a:avLst/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8235" y="2597051"/>
            <a:ext cx="475047" cy="475059"/>
          </a:xfrm>
          <a:prstGeom prst="ellipse">
            <a:avLst/>
          </a:prstGeom>
          <a:solidFill>
            <a:srgbClr val="F2C58E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7932" y="2745680"/>
            <a:ext cx="805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8235" y="3251002"/>
            <a:ext cx="33400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Product &amp; seller performance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8235" y="3657402"/>
            <a:ext cx="33400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High-performing categories and sellers highlighted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32589" y="2387501"/>
            <a:ext cx="3759106" cy="2082998"/>
          </a:xfrm>
          <a:prstGeom prst="rect">
            <a:avLst/>
          </a:prstGeom>
          <a:noFill/>
          <a:ln w="19050">
            <a:solidFill>
              <a:srgbClr val="A853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42134" y="2597051"/>
            <a:ext cx="475047" cy="475059"/>
          </a:xfrm>
          <a:prstGeom prst="ellipse">
            <a:avLst/>
          </a:prstGeom>
          <a:solidFill>
            <a:srgbClr val="F2C58E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81830" y="2745680"/>
            <a:ext cx="805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2134" y="3251002"/>
            <a:ext cx="334001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3A1F24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Delivery &amp; operations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42134" y="3657402"/>
            <a:ext cx="334001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Longer delivery times and operational challenges surfaced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368691" y="4775200"/>
            <a:ext cx="7823004" cy="2082800"/>
          </a:xfrm>
          <a:prstGeom prst="rect">
            <a:avLst/>
          </a:prstGeom>
          <a:solidFill>
            <a:srgbClr val="F7D9B0"/>
          </a:solidFill>
          <a:ln w="19050">
            <a:solidFill>
              <a:srgbClr val="A853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8235" y="4984750"/>
            <a:ext cx="475047" cy="475059"/>
          </a:xfrm>
          <a:prstGeom prst="ellipse">
            <a:avLst/>
          </a:prstGeom>
          <a:solidFill>
            <a:srgbClr val="F2C58E"/>
          </a:solidFill>
          <a:ln w="6350">
            <a:solidFill>
              <a:srgbClr val="A8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7932" y="5133380"/>
            <a:ext cx="80523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SemiBold" pitchFamily="34" charset="0"/>
                <a:ea typeface="Funnel Sans SemiBold" pitchFamily="34" charset="-122"/>
                <a:cs typeface="Funnel Sans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8235" y="5763022"/>
            <a:ext cx="740391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Customer satisfaction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8235" y="6169422"/>
            <a:ext cx="76134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Review patterns and experience drivers analyzed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67185"/>
            <a:ext cx="541006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A8532D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ACTION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2026841"/>
            <a:ext cx="4952876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dirty="0">
                <a:solidFill>
                  <a:srgbClr val="3A1F24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-120"/>
              </a:rPr>
              <a:t>STRATEGIC RECOMMENDATIONS &amp; 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189" y="3673971"/>
            <a:ext cx="1634390" cy="38100"/>
          </a:xfrm>
          <a:prstGeom prst="roundRect">
            <a:avLst>
              <a:gd name="adj" fmla="val 49999"/>
            </a:avLst>
          </a:prstGeom>
          <a:solidFill>
            <a:srgbClr val="F2C58E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3915271"/>
            <a:ext cx="49528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Excel, SQL, Power BI, and Tableau combine to turn marketplace data into decisions about sales, customers, products, sellers, delivery, and satisfaction.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189" y="4820543"/>
            <a:ext cx="3852865" cy="270173"/>
          </a:xfrm>
          <a:prstGeom prst="roundRect">
            <a:avLst>
              <a:gd name="adj" fmla="val 4231"/>
            </a:avLst>
          </a:prstGeom>
          <a:solidFill>
            <a:srgbClr val="FAE8D1"/>
          </a:solidFill>
          <a:ln/>
        </p:spPr>
      </p:sp>
      <p:sp>
        <p:nvSpPr>
          <p:cNvPr id="7" name="Text 5"/>
          <p:cNvSpPr/>
          <p:nvPr/>
        </p:nvSpPr>
        <p:spPr>
          <a:xfrm>
            <a:off x="563846" y="4873823"/>
            <a:ext cx="4249135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DATA → ANALYSIS → INSIGHTS → BUSINESS DECISIONS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81630" y="2095897"/>
            <a:ext cx="4952876" cy="266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Strengthen high-performing categories: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Increase inventory and promotional support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Improve delivery performance: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Focus on regions with high delivery times and late orders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Support high-performing sellers: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Replicate proven marketplace practices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Target regional opportunities: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Use state-level demand and revenue patterns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21160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Improve customer experience:</a:t>
            </a:r>
            <a:r>
              <a:rPr lang="en-US" sz="1400" dirty="0">
                <a:solidFill>
                  <a:srgbClr val="21160F"/>
                </a:solidFill>
                <a:latin typeface="Funnel Sans Light" pitchFamily="34" charset="0"/>
                <a:ea typeface="Funnel Sans Light" pitchFamily="34" charset="-122"/>
                <a:cs typeface="Funnel Sans Light" pitchFamily="34" charset="-120"/>
              </a:rPr>
              <a:t> Address delivery and product areas linked to lower reviews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AD48E-5A1F-C41A-50A7-7855D3CF4D52}"/>
              </a:ext>
            </a:extLst>
          </p:cNvPr>
          <p:cNvSpPr txBox="1"/>
          <p:nvPr/>
        </p:nvSpPr>
        <p:spPr>
          <a:xfrm>
            <a:off x="2540006" y="2524364"/>
            <a:ext cx="74911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9600" dirty="0">
                <a:latin typeface="Hedvig Letters Serif" panose="020B0604020202020204" charset="0"/>
              </a:rPr>
              <a:t>Thank You….</a:t>
            </a:r>
          </a:p>
        </p:txBody>
      </p:sp>
    </p:spTree>
    <p:extLst>
      <p:ext uri="{BB962C8B-B14F-4D97-AF65-F5344CB8AC3E}">
        <p14:creationId xmlns:p14="http://schemas.microsoft.com/office/powerpoint/2010/main" val="996204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657</Words>
  <Application>Microsoft Office PowerPoint</Application>
  <PresentationFormat>Widescreen</PresentationFormat>
  <Paragraphs>145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Funnel Sans SemiBold</vt:lpstr>
      <vt:lpstr>Funnel Sans Light</vt:lpstr>
      <vt:lpstr>Funnel Sans Bold</vt:lpstr>
      <vt:lpstr>Hedvig Letters Serif</vt:lpstr>
      <vt:lpstr>MS PGothic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satish kumar</dc:creator>
  <cp:lastModifiedBy>Msk Hemanth</cp:lastModifiedBy>
  <cp:revision>8</cp:revision>
  <dcterms:created xsi:type="dcterms:W3CDTF">2026-10-04T11:40:52Z</dcterms:created>
  <dcterms:modified xsi:type="dcterms:W3CDTF">2026-10-12T17:37:32Z</dcterms:modified>
</cp:coreProperties>
</file>